
<file path=[Content_Types].xml><?xml version="1.0" encoding="utf-8"?>
<Types xmlns="http://schemas.openxmlformats.org/package/2006/content-types">
  <Default Extension="svg" ContentType="image/svg+xml"/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1430000" cy="6000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fuyou-no-kabe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furusato-nozei-jogen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koukou-mushouka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daigaku-mushouka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kougaku-ryouyouhi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jidouteate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ryouhi-koujo.sv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jutaku-loan-koujo.sv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shogakukin-henkan.sv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hoiku-mushouka.sv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seimeihoken-hikazei.sv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zoku-nenkin.sv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deco-jougen.sv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kuriage-kurisage.sv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taishoku-shotoku.sv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shoukibo-takuchi.sv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brand-mark.sv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8EC5E8"/>
                </a:solidFill>
                <a:latin typeface="Yu Gothic UI"/>
              </a:rPr>
              <a:t>税と社会保険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38528"/>
            <a:ext cx="5257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600" b="1">
                <a:solidFill>
                  <a:srgbClr val="FFFFFF"/>
                </a:solidFill>
                <a:latin typeface="Yu Gothic UI"/>
              </a:rPr>
              <a:t>扶養の壁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99232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103・106・130・150・160 は</a:t>
            </a:r>
          </a:p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何の壁なのか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EC5E8"/>
                </a:solidFill>
                <a:latin typeface="Yu Gothic UI"/>
              </a:rPr>
              <a:t>家計の制度ログ　kakei.nexeed-lab.com</a:t>
            </a:r>
          </a:p>
        </p:txBody>
      </p:sp>
      <p:pic>
        <p:nvPicPr>
          <p:cNvPr id="9" name="Picture 8" descr="fuyou-no-kab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90523" y="4554363"/>
            <a:ext cx="859536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Yu Gothic UI"/>
              </a:rPr>
              <a:t>所得税</a:t>
            </a:r>
          </a:p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Yu Gothic UI"/>
              </a:rPr>
              <a:t>〜令和6年分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48047" y="4554363"/>
            <a:ext cx="859536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8EC5E8"/>
                </a:solidFill>
                <a:latin typeface="Yu Gothic UI"/>
              </a:rPr>
              <a:t>社会保険</a:t>
            </a:r>
          </a:p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8EC5E8"/>
                </a:solidFill>
                <a:latin typeface="Yu Gothic UI"/>
              </a:rPr>
              <a:t>適用拡大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5572" y="4554363"/>
            <a:ext cx="859536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8EC5E8"/>
                </a:solidFill>
                <a:latin typeface="Yu Gothic UI"/>
              </a:rPr>
              <a:t>健康保険の</a:t>
            </a:r>
          </a:p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8EC5E8"/>
                </a:solidFill>
                <a:latin typeface="Yu Gothic UI"/>
              </a:rPr>
              <a:t>被扶養者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3096" y="4554363"/>
            <a:ext cx="859536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Yu Gothic UI"/>
              </a:rPr>
              <a:t>配偶者</a:t>
            </a:r>
          </a:p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Yu Gothic UI"/>
              </a:rPr>
              <a:t>特別控除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20620" y="4554363"/>
            <a:ext cx="859536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Yu Gothic UI"/>
              </a:rPr>
              <a:t>所得税</a:t>
            </a:r>
          </a:p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Yu Gothic UI"/>
              </a:rPr>
              <a:t>令和7年分〜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53328" y="5376672"/>
            <a:ext cx="47640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単位：万円　白＝税の壁　青＝社会保険の壁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8EC5E8"/>
                </a:solidFill>
                <a:latin typeface="Yu Gothic UI"/>
              </a:rPr>
              <a:t>税と社会保険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38528"/>
            <a:ext cx="5257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FFFFFF"/>
                </a:solidFill>
                <a:latin typeface="Yu Gothic UI"/>
              </a:rPr>
              <a:t>ふるさと納税の上限額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99232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決めているのは</a:t>
            </a:r>
          </a:p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総務省の3本の計算式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EC5E8"/>
                </a:solidFill>
                <a:latin typeface="Yu Gothic UI"/>
              </a:rPr>
              <a:t>家計の制度ログ　kakei.nexeed-lab.com</a:t>
            </a:r>
          </a:p>
        </p:txBody>
      </p:sp>
      <p:pic>
        <p:nvPicPr>
          <p:cNvPr id="9" name="Picture 8" descr="furusato-nozei-jogen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073274" y="3717645"/>
            <a:ext cx="173736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Yu Gothic UI"/>
              </a:rPr>
              <a:t>(1) 所得税から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73274" y="2936179"/>
            <a:ext cx="173736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Yu Gothic UI"/>
              </a:rPr>
              <a:t>(2) 住民税の基本分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73274" y="2040351"/>
            <a:ext cx="173736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Yu Gothic UI"/>
              </a:rPr>
              <a:t>(3) 住民税の特例分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73274" y="1153281"/>
            <a:ext cx="1737360" cy="264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7CD7A"/>
                </a:solidFill>
                <a:latin typeface="Yu Gothic UI"/>
              </a:rPr>
              <a:t>住民税所得割額の20％</a:t>
            </a:r>
          </a:p>
          <a:p>
            <a:pPr algn="l">
              <a:lnSpc>
                <a:spcPct val="115000"/>
              </a:lnSpc>
            </a:pPr>
            <a:r>
              <a:rPr sz="1300" b="1">
                <a:solidFill>
                  <a:srgbClr val="E7CD7A"/>
                </a:solidFill>
                <a:latin typeface="Yu Gothic UI"/>
              </a:rPr>
              <a:t>＝ここが天井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3328" y="5376672"/>
            <a:ext cx="47640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破線の上にはみ出した分は控除されず、自己負担として残る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8EC5E8"/>
                </a:solidFill>
                <a:latin typeface="Yu Gothic UI"/>
              </a:rPr>
              <a:t>教育費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38528"/>
            <a:ext cx="5257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FFFFFF"/>
                </a:solidFill>
                <a:latin typeface="Yu Gothic UI"/>
              </a:rPr>
              <a:t>「高校無償化」の中身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99232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制度名は高等学校等就学支援金</a:t>
            </a:r>
          </a:p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授業料以外は別の給付金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EC5E8"/>
                </a:solidFill>
                <a:latin typeface="Yu Gothic UI"/>
              </a:rPr>
              <a:t>家計の制度ログ　kakei.nexeed-lab.com</a:t>
            </a:r>
          </a:p>
        </p:txBody>
      </p:sp>
      <p:pic>
        <p:nvPicPr>
          <p:cNvPr id="9" name="Picture 8" descr="koukou-mushouka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29500" y="1105631"/>
            <a:ext cx="2011680" cy="264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Yu Gothic UI"/>
              </a:rPr>
              <a:t>高校でかかる費用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3790" y="1411366"/>
            <a:ext cx="155448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Yu Gothic UI"/>
              </a:rPr>
              <a:t>授業料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82409" y="1411366"/>
            <a:ext cx="155448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8EC5E8"/>
                </a:solidFill>
                <a:latin typeface="Yu Gothic UI"/>
              </a:rPr>
              <a:t>授業料以外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3790" y="4164015"/>
            <a:ext cx="1554480" cy="223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Yu Gothic UI"/>
              </a:rPr>
              <a:t>高等学校等</a:t>
            </a:r>
          </a:p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Yu Gothic UI"/>
              </a:rPr>
              <a:t>就学支援金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82409" y="4164015"/>
            <a:ext cx="1554480" cy="223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8EC5E8"/>
                </a:solidFill>
                <a:latin typeface="Yu Gothic UI"/>
              </a:rPr>
              <a:t>高校生等</a:t>
            </a:r>
          </a:p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8EC5E8"/>
                </a:solidFill>
                <a:latin typeface="Yu Gothic UI"/>
              </a:rPr>
              <a:t>奨学給付金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53328" y="5376672"/>
            <a:ext cx="47640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矢印の先＝それを受け止める制度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数字は私立高校の年額（円）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8EC5E8"/>
                </a:solidFill>
                <a:latin typeface="Yu Gothic UI"/>
              </a:rPr>
              <a:t>教育費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38528"/>
            <a:ext cx="5257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FFFFFF"/>
                </a:solidFill>
                <a:latin typeface="Yu Gothic UI"/>
              </a:rPr>
              <a:t>「大学無償化」の中身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99232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高等教育の修学支援新制度</a:t>
            </a:r>
          </a:p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無償化されたのは減免だけ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EC5E8"/>
                </a:solidFill>
                <a:latin typeface="Yu Gothic UI"/>
              </a:rPr>
              <a:t>家計の制度ログ　kakei.nexeed-lab.com</a:t>
            </a:r>
          </a:p>
        </p:txBody>
      </p:sp>
      <p:pic>
        <p:nvPicPr>
          <p:cNvPr id="9" name="Picture 8" descr="daigaku-mushouka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155180" y="1048451"/>
            <a:ext cx="2560320" cy="264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Yu Gothic UI"/>
              </a:rPr>
              <a:t>高等教育の修学支援新制度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1430" y="2201976"/>
            <a:ext cx="1554480" cy="28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014172"/>
                </a:solidFill>
                <a:latin typeface="Yu Gothic UI"/>
              </a:rPr>
              <a:t>授業料等減免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34769" y="1868424"/>
            <a:ext cx="1554480" cy="28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014172"/>
                </a:solidFill>
                <a:latin typeface="Yu Gothic UI"/>
              </a:rPr>
              <a:t>給付型奨学金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1430" y="4497182"/>
            <a:ext cx="155448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Yu Gothic UI"/>
              </a:rPr>
              <a:t>多子世帯は</a:t>
            </a:r>
          </a:p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Yu Gothic UI"/>
              </a:rPr>
              <a:t>所得制限なし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34769" y="4497182"/>
            <a:ext cx="155448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8EC5E8"/>
                </a:solidFill>
                <a:latin typeface="Yu Gothic UI"/>
              </a:rPr>
              <a:t>収入の基準が</a:t>
            </a:r>
          </a:p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8EC5E8"/>
                </a:solidFill>
                <a:latin typeface="Yu Gothic UI"/>
              </a:rPr>
              <a:t>残っている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53328" y="5376672"/>
            <a:ext cx="47640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数字は私立大学の年額（給付型は自宅外）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8EC5E8"/>
                </a:solidFill>
                <a:latin typeface="Yu Gothic UI"/>
              </a:rPr>
              <a:t>税と社会保険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38528"/>
            <a:ext cx="5257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FFFFFF"/>
                </a:solidFill>
                <a:latin typeface="Yu Gothic UI"/>
              </a:rPr>
              <a:t>高額療養費の年間上限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99232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2026年8月から</a:t>
            </a:r>
          </a:p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年単位の上限額が入った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EC5E8"/>
                </a:solidFill>
                <a:latin typeface="Yu Gothic UI"/>
              </a:rPr>
              <a:t>家計の制度ログ　kakei.nexeed-lab.com</a:t>
            </a:r>
          </a:p>
        </p:txBody>
      </p:sp>
      <p:pic>
        <p:nvPicPr>
          <p:cNvPr id="9" name="Picture 8" descr="kougaku-ryouyouhi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72562" y="1619869"/>
            <a:ext cx="1737360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7CD7A"/>
                </a:solidFill>
                <a:latin typeface="Yu Gothic UI"/>
              </a:rPr>
              <a:t>年間上限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20940" y="3831234"/>
            <a:ext cx="1828800" cy="264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014172"/>
                </a:solidFill>
                <a:latin typeface="Yu Gothic UI"/>
              </a:rPr>
              <a:t>実際に払う自己負担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6241" y="1057208"/>
            <a:ext cx="1463040" cy="223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Yu Gothic UI"/>
              </a:rPr>
              <a:t>払わずに済む分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59250" y="4573423"/>
            <a:ext cx="73152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Yu Gothic UI"/>
              </a:rPr>
              <a:t>8月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57964" y="4573423"/>
            <a:ext cx="82296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Yu Gothic UI"/>
              </a:rPr>
              <a:t>翌年7月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53328" y="5376672"/>
            <a:ext cx="47640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1段＝1か月ぶんの自己負担。破線から先は払わなくてよい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8EC5E8"/>
                </a:solidFill>
                <a:latin typeface="Yu Gothic UI"/>
              </a:rPr>
              <a:t>教育費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38528"/>
            <a:ext cx="5257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FFFFFF"/>
                </a:solidFill>
                <a:latin typeface="Yu Gothic UI"/>
              </a:rPr>
              <a:t>児童手当の「第3子」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99232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3人いても</a:t>
            </a:r>
          </a:p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第3子とは限らない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EC5E8"/>
                </a:solidFill>
                <a:latin typeface="Yu Gothic UI"/>
              </a:rPr>
              <a:t>家計の制度ログ　kakei.nexeed-lab.com</a:t>
            </a:r>
          </a:p>
        </p:txBody>
      </p:sp>
      <p:pic>
        <p:nvPicPr>
          <p:cNvPr id="9" name="Picture 8" descr="jidouteat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088782" y="1372859"/>
            <a:ext cx="1645920" cy="28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8EC5E8"/>
                </a:solidFill>
                <a:latin typeface="Yu Gothic UI"/>
              </a:rPr>
              <a:t>1人目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88782" y="2516469"/>
            <a:ext cx="1645920" cy="28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8EC5E8"/>
                </a:solidFill>
                <a:latin typeface="Yu Gothic UI"/>
              </a:rPr>
              <a:t>2人目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3062" y="3669223"/>
            <a:ext cx="1737360" cy="264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014172"/>
                </a:solidFill>
                <a:latin typeface="Yu Gothic UI"/>
              </a:rPr>
              <a:t>3人目＝加算の対象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53328" y="5376672"/>
            <a:ext cx="47640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点線＝経済的負担と確認書があれば数に入る上の子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左の点＝数える順番（上の子から数える）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8EC5E8"/>
                </a:solidFill>
                <a:latin typeface="Yu Gothic UI"/>
              </a:rPr>
              <a:t>税と社会保険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38528"/>
            <a:ext cx="5257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FFFFFF"/>
                </a:solidFill>
                <a:latin typeface="Yu Gothic UI"/>
              </a:rPr>
              <a:t>医療費控除の下限額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99232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10万円とは限らない</a:t>
            </a:r>
          </a:p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引く順番も決まっている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EC5E8"/>
                </a:solidFill>
                <a:latin typeface="Yu Gothic UI"/>
              </a:rPr>
              <a:t>家計の制度ログ　kakei.nexeed-lab.com</a:t>
            </a:r>
          </a:p>
        </p:txBody>
      </p:sp>
      <p:pic>
        <p:nvPicPr>
          <p:cNvPr id="9" name="Picture 8" descr="iryouhi-koujo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026078" y="1886712"/>
            <a:ext cx="1645920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Yu Gothic UI"/>
              </a:rPr>
              <a:t>控除の対象</a:t>
            </a:r>
          </a:p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Yu Gothic UI"/>
              </a:rPr>
              <a:t>になる分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83247" y="2838948"/>
            <a:ext cx="164592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E7CD7A"/>
                </a:solidFill>
                <a:latin typeface="Yu Gothic UI"/>
              </a:rPr>
              <a:t>ここまでが引かれる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26078" y="3182416"/>
            <a:ext cx="1645920" cy="223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8EC5E8"/>
                </a:solidFill>
                <a:latin typeface="Yu Gothic UI"/>
              </a:rPr>
              <a:t>適用下限額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26078" y="3925377"/>
            <a:ext cx="164592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8EC5E8"/>
                </a:solidFill>
                <a:latin typeface="Yu Gothic UI"/>
              </a:rPr>
              <a:t>保険金などで</a:t>
            </a:r>
          </a:p>
          <a:p>
            <a:pPr algn="l">
              <a:lnSpc>
                <a:spcPct val="115000"/>
              </a:lnSpc>
            </a:pPr>
            <a:r>
              <a:rPr sz="1000" b="1">
                <a:solidFill>
                  <a:srgbClr val="8EC5E8"/>
                </a:solidFill>
                <a:latin typeface="Yu Gothic UI"/>
              </a:rPr>
              <a:t>補てんされた分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3328" y="5376672"/>
            <a:ext cx="47640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縦＝1年間に支払った医療費の積み上がり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8EC5E8"/>
                </a:solidFill>
                <a:latin typeface="Yu Gothic UI"/>
              </a:rPr>
              <a:t>税と社会保険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38528"/>
            <a:ext cx="5257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FFFFFF"/>
                </a:solidFill>
                <a:latin typeface="Yu Gothic UI"/>
              </a:rPr>
              <a:t>住宅ローン減税の区分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99232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省エネ基準を満たさない</a:t>
            </a:r>
          </a:p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新築は支援対象外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EC5E8"/>
                </a:solidFill>
                <a:latin typeface="Yu Gothic UI"/>
              </a:rPr>
              <a:t>家計の制度ログ　kakei.nexeed-lab.com</a:t>
            </a:r>
          </a:p>
        </p:txBody>
      </p:sp>
      <p:pic>
        <p:nvPicPr>
          <p:cNvPr id="9" name="Picture 8" descr="jutaku-loan-koujo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168266" y="1352641"/>
            <a:ext cx="1645920" cy="223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Yu Gothic UI"/>
              </a:rPr>
              <a:t>長期優良住宅</a:t>
            </a:r>
          </a:p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Yu Gothic UI"/>
              </a:rPr>
              <a:t>低炭素住宅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68266" y="2267529"/>
            <a:ext cx="1645920" cy="223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Yu Gothic UI"/>
              </a:rPr>
              <a:t>ZEH水準</a:t>
            </a:r>
          </a:p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Yu Gothic UI"/>
              </a:rPr>
              <a:t>省エネ住宅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68266" y="3182416"/>
            <a:ext cx="1645920" cy="223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Yu Gothic UI"/>
              </a:rPr>
              <a:t>省エネ基準</a:t>
            </a:r>
          </a:p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Yu Gothic UI"/>
              </a:rPr>
              <a:t>適合住宅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68266" y="4097304"/>
            <a:ext cx="1645920" cy="223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7CD7A"/>
                </a:solidFill>
                <a:latin typeface="Yu Gothic UI"/>
              </a:rPr>
              <a:t>その他住宅</a:t>
            </a:r>
          </a:p>
          <a:p>
            <a:pPr algn="l">
              <a:lnSpc>
                <a:spcPct val="115000"/>
              </a:lnSpc>
            </a:pPr>
            <a:r>
              <a:rPr sz="1100" b="1">
                <a:solidFill>
                  <a:srgbClr val="E7CD7A"/>
                </a:solidFill>
                <a:latin typeface="Yu Gothic UI"/>
              </a:rPr>
              <a:t>新築は支援対象外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4992624"/>
            <a:ext cx="155448" cy="1554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823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新築住宅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0" y="4992624"/>
            <a:ext cx="155448" cy="155448"/>
          </a:xfrm>
          <a:prstGeom prst="roundRect">
            <a:avLst/>
          </a:prstGeom>
          <a:solidFill>
            <a:srgbClr val="8EC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6851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既存住宅（中古）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53328" y="5376672"/>
            <a:ext cx="47640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横の長さ＝借入限度額（令和8年〜令和12年に入居した場合）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8EC5E8"/>
                </a:solidFill>
                <a:latin typeface="Yu Gothic UI"/>
              </a:rPr>
              <a:t>教育費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38528"/>
            <a:ext cx="5257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FFFFFF"/>
                </a:solidFill>
                <a:latin typeface="Yu Gothic UI"/>
              </a:rPr>
              <a:t>奨学金の返還が苦しいとき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99232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減額返還も猶予も</a:t>
            </a:r>
          </a:p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返す総額は減らない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EC5E8"/>
                </a:solidFill>
                <a:latin typeface="Yu Gothic UI"/>
              </a:rPr>
              <a:t>家計の制度ログ　kakei.nexeed-lab.com</a:t>
            </a:r>
          </a:p>
        </p:txBody>
      </p:sp>
      <p:pic>
        <p:nvPicPr>
          <p:cNvPr id="9" name="Picture 8" descr="shogakukin-henkan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333175" y="1191016"/>
            <a:ext cx="1554480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Yu Gothic UI"/>
              </a:rPr>
              <a:t>元の返還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33175" y="2048723"/>
            <a:ext cx="1554480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Yu Gothic UI"/>
              </a:rPr>
              <a:t>減額返還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33175" y="2906430"/>
            <a:ext cx="1554480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Yu Gothic UI"/>
              </a:rPr>
              <a:t>返還期限猶予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3175" y="3764137"/>
            <a:ext cx="1554480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7CD7A"/>
                </a:solidFill>
                <a:latin typeface="Yu Gothic UI"/>
              </a:rPr>
              <a:t>返還免除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4992624"/>
            <a:ext cx="155448" cy="1554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823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返す分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0" y="4992624"/>
            <a:ext cx="155448" cy="155448"/>
          </a:xfrm>
          <a:prstGeom prst="roundRect">
            <a:avLst/>
          </a:prstGeom>
          <a:solidFill>
            <a:srgbClr val="8EC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6851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待つ期間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53328" y="5376672"/>
            <a:ext cx="47640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白の合計＝返す総額。減るのは免除だけ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8EC5E8"/>
                </a:solidFill>
                <a:latin typeface="Yu Gothic UI"/>
              </a:rPr>
              <a:t>教育費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38528"/>
            <a:ext cx="5257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FFFFFF"/>
                </a:solidFill>
                <a:latin typeface="Yu Gothic UI"/>
              </a:rPr>
              <a:t>「保育の無償化」の中身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99232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無料になるのは利用料だけ</a:t>
            </a:r>
          </a:p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0〜2歳児クラスは原則対象外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EC5E8"/>
                </a:solidFill>
                <a:latin typeface="Yu Gothic UI"/>
              </a:rPr>
              <a:t>家計の制度ログ　kakei.nexeed-lab.com</a:t>
            </a:r>
          </a:p>
        </p:txBody>
      </p:sp>
      <p:pic>
        <p:nvPicPr>
          <p:cNvPr id="9" name="Picture 8" descr="hoiku-mushouka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158134" y="940340"/>
            <a:ext cx="868680" cy="223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E7CD7A"/>
                </a:solidFill>
                <a:latin typeface="Yu Gothic UI"/>
              </a:rPr>
              <a:t>利用料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74292" y="940340"/>
            <a:ext cx="868680" cy="223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Yu Gothic UI"/>
              </a:rPr>
              <a:t>食材料費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90451" y="940340"/>
            <a:ext cx="868680" cy="223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Yu Gothic UI"/>
              </a:rPr>
              <a:t>通園送迎費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06609" y="940340"/>
            <a:ext cx="868680" cy="223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Yu Gothic UI"/>
              </a:rPr>
              <a:t>行事費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5499" y="1843189"/>
            <a:ext cx="1097280" cy="223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Yu Gothic UI"/>
              </a:rPr>
              <a:t>3〜5歳児</a:t>
            </a:r>
          </a:p>
          <a:p>
            <a:pPr algn="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Yu Gothic UI"/>
              </a:rPr>
              <a:t>クラス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5499" y="3513461"/>
            <a:ext cx="1097280" cy="223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Yu Gothic UI"/>
              </a:rPr>
              <a:t>0〜2歳児</a:t>
            </a:r>
          </a:p>
          <a:p>
            <a:pPr algn="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Yu Gothic UI"/>
              </a:rPr>
              <a:t>クラス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53328" y="5376672"/>
            <a:ext cx="47640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白＝払う分　黄色い破線＝無償化で払わなくなる分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0〜2歳児クラスは住民税非課税世帯だけ利用料が無償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8EC5E8"/>
                </a:solidFill>
                <a:latin typeface="Yu Gothic UI"/>
              </a:rPr>
              <a:t>相続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38528"/>
            <a:ext cx="5257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FFFFFF"/>
                </a:solidFill>
                <a:latin typeface="Yu Gothic UI"/>
              </a:rPr>
              <a:t>生命保険金の非課税枠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99232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受取人が相続人でないと</a:t>
            </a:r>
          </a:p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1円も使えない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EC5E8"/>
                </a:solidFill>
                <a:latin typeface="Yu Gothic UI"/>
              </a:rPr>
              <a:t>家計の制度ログ　kakei.nexeed-lab.com</a:t>
            </a:r>
          </a:p>
        </p:txBody>
      </p:sp>
      <p:pic>
        <p:nvPicPr>
          <p:cNvPr id="9" name="Picture 8" descr="seimeihoken-hikazei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37368" y="1406669"/>
            <a:ext cx="841248" cy="264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014172"/>
                </a:solidFill>
                <a:latin typeface="Yu Gothic UI"/>
              </a:rPr>
              <a:t>配偶者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7368" y="2289603"/>
            <a:ext cx="841248" cy="264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014172"/>
                </a:solidFill>
                <a:latin typeface="Yu Gothic UI"/>
              </a:rPr>
              <a:t>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7368" y="3777978"/>
            <a:ext cx="841248" cy="264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014172"/>
                </a:solidFill>
                <a:latin typeface="Yu Gothic UI"/>
              </a:rPr>
              <a:t>孫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56286" y="1838992"/>
            <a:ext cx="1920240" cy="28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014172"/>
                </a:solidFill>
                <a:latin typeface="Yu Gothic UI"/>
              </a:rPr>
              <a:t>非課税枠に入る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56286" y="3796266"/>
            <a:ext cx="1920240" cy="223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E7CD7A"/>
                </a:solidFill>
                <a:latin typeface="Yu Gothic UI"/>
              </a:rPr>
              <a:t>枠の外</a:t>
            </a:r>
          </a:p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E7CD7A"/>
                </a:solidFill>
                <a:latin typeface="Yu Gothic UI"/>
              </a:rPr>
              <a:t>非課税の適用なし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53328" y="5376672"/>
            <a:ext cx="47640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枠の大きさ＝500万円×法定相続人の数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箱の大小は金額を表していない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8EC5E8"/>
                </a:solidFill>
                <a:latin typeface="Yu Gothic UI"/>
              </a:rPr>
              <a:t>年金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38528"/>
            <a:ext cx="5257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FFFFFF"/>
                </a:solidFill>
                <a:latin typeface="Yu Gothic UI"/>
              </a:rPr>
              <a:t>遺族基礎年金が止まる日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99232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子がいない世帯には</a:t>
            </a:r>
          </a:p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はじめから出ない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EC5E8"/>
                </a:solidFill>
                <a:latin typeface="Yu Gothic UI"/>
              </a:rPr>
              <a:t>家計の制度ログ　kakei.nexeed-lab.com</a:t>
            </a:r>
          </a:p>
        </p:txBody>
      </p:sp>
      <p:pic>
        <p:nvPicPr>
          <p:cNvPr id="9" name="Picture 8" descr="izoku-nenkin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29730" y="1239227"/>
            <a:ext cx="1737360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Yu Gothic UI"/>
              </a:rPr>
              <a:t>子がいる世帯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29730" y="2601468"/>
            <a:ext cx="1737360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Yu Gothic UI"/>
              </a:rPr>
              <a:t>子がいない世帯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24659" y="1907734"/>
            <a:ext cx="1828800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014172"/>
                </a:solidFill>
                <a:latin typeface="Yu Gothic UI"/>
              </a:rPr>
              <a:t>遺族基礎年金が出る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3540" y="1916878"/>
            <a:ext cx="1188720" cy="223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E7CD7A"/>
                </a:solidFill>
                <a:latin typeface="Yu Gothic UI"/>
              </a:rPr>
              <a:t>止まる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51366" y="3279119"/>
            <a:ext cx="1828800" cy="223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E7CD7A"/>
                </a:solidFill>
                <a:latin typeface="Yu Gothic UI"/>
              </a:rPr>
              <a:t>はじめから出ない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87755" y="4486531"/>
            <a:ext cx="219456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E7CD7A"/>
                </a:solidFill>
                <a:latin typeface="Yu Gothic UI"/>
              </a:rPr>
              <a:t>子が18歳到達年度の末日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53328" y="5376672"/>
            <a:ext cx="47640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横＝時間　白＝出る期間　黄色い破線＝出ない期間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帯の長さは期間の目安で、金額は表していない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8EC5E8"/>
                </a:solidFill>
                <a:latin typeface="Yu Gothic UI"/>
              </a:rPr>
              <a:t>資産形成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38528"/>
            <a:ext cx="5257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FFFFFF"/>
                </a:solidFill>
                <a:latin typeface="Yu Gothic UI"/>
              </a:rPr>
              <a:t>iDeCoの掛金上限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99232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2026年12月1日から</a:t>
            </a:r>
          </a:p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会社員の差が無くなる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EC5E8"/>
                </a:solidFill>
                <a:latin typeface="Yu Gothic UI"/>
              </a:rPr>
              <a:t>家計の制度ログ　kakei.nexeed-lab.com</a:t>
            </a:r>
          </a:p>
        </p:txBody>
      </p:sp>
      <p:pic>
        <p:nvPicPr>
          <p:cNvPr id="9" name="Picture 8" descr="ideco-jougen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19699" y="1872326"/>
            <a:ext cx="713232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Yu Gothic UI"/>
              </a:rPr>
              <a:t>第1号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52626" y="3253800"/>
            <a:ext cx="71323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>
                <a:solidFill>
                  <a:srgbClr val="FFFFFF"/>
                </a:solidFill>
                <a:latin typeface="Yu Gothic UI"/>
              </a:rPr>
              <a:t>第2号</a:t>
            </a:r>
          </a:p>
          <a:p>
            <a:pPr algn="ctr">
              <a:lnSpc>
                <a:spcPct val="115000"/>
              </a:lnSpc>
            </a:pPr>
            <a:r>
              <a:rPr sz="900" b="1">
                <a:solidFill>
                  <a:srgbClr val="FFFFFF"/>
                </a:solidFill>
                <a:latin typeface="Yu Gothic UI"/>
              </a:rPr>
              <a:t>企業年金なし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85553" y="3339571"/>
            <a:ext cx="71323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>
                <a:solidFill>
                  <a:srgbClr val="FFFFFF"/>
                </a:solidFill>
                <a:latin typeface="Yu Gothic UI"/>
              </a:rPr>
              <a:t>第2号</a:t>
            </a:r>
          </a:p>
          <a:p>
            <a:pPr algn="ctr">
              <a:lnSpc>
                <a:spcPct val="115000"/>
              </a:lnSpc>
            </a:pPr>
            <a:r>
              <a:rPr sz="900" b="1">
                <a:solidFill>
                  <a:srgbClr val="FFFFFF"/>
                </a:solidFill>
                <a:latin typeface="Yu Gothic UI"/>
              </a:rPr>
              <a:t>企業年金あり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76678" y="1593616"/>
            <a:ext cx="1645920" cy="223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E7CD7A"/>
                </a:solidFill>
                <a:latin typeface="Yu Gothic UI"/>
              </a:rPr>
              <a:t>第2号は同じ額に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4842" y="4420942"/>
            <a:ext cx="18288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Yu Gothic UI"/>
              </a:rPr>
              <a:t>2026年11月30日まで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85238" y="4420942"/>
            <a:ext cx="18288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Yu Gothic UI"/>
              </a:rPr>
              <a:t>2026年12月1日から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53328" y="5376672"/>
            <a:ext cx="47640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縦＝1か月の掛金上限（円）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第1号＝自営業者等　第2号＝会社員・公務員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8EC5E8"/>
                </a:solidFill>
                <a:latin typeface="Yu Gothic UI"/>
              </a:rPr>
              <a:t>年金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38528"/>
            <a:ext cx="5257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FFFFFF"/>
                </a:solidFill>
                <a:latin typeface="Yu Gothic UI"/>
              </a:rPr>
              <a:t>年金の繰上げ・繰下げ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99232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繰上げは取り消せず</a:t>
            </a:r>
          </a:p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繰下げでも増えない部分がある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EC5E8"/>
                </a:solidFill>
                <a:latin typeface="Yu Gothic UI"/>
              </a:rPr>
              <a:t>家計の制度ログ　kakei.nexeed-lab.com</a:t>
            </a:r>
          </a:p>
        </p:txBody>
      </p:sp>
      <p:pic>
        <p:nvPicPr>
          <p:cNvPr id="9" name="Picture 8" descr="kuriage-kurisag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39683" y="4402653"/>
            <a:ext cx="822960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Yu Gothic UI"/>
              </a:rPr>
              <a:t>60歳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5536" y="4402653"/>
            <a:ext cx="822960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Yu Gothic UI"/>
              </a:rPr>
              <a:t>65歳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71390" y="4402653"/>
            <a:ext cx="822960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Yu Gothic UI"/>
              </a:rPr>
              <a:t>75歳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1979" y="3587740"/>
            <a:ext cx="658368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014172"/>
                </a:solidFill>
                <a:latin typeface="Yu Gothic UI"/>
              </a:rPr>
              <a:t>24％</a:t>
            </a:r>
          </a:p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014172"/>
                </a:solidFill>
                <a:latin typeface="Yu Gothic UI"/>
              </a:rPr>
              <a:t>減る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87832" y="3468319"/>
            <a:ext cx="658368" cy="223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014172"/>
                </a:solidFill>
                <a:latin typeface="Yu Gothic UI"/>
              </a:rPr>
              <a:t>基準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53686" y="2877069"/>
            <a:ext cx="658368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014172"/>
                </a:solidFill>
                <a:latin typeface="Yu Gothic UI"/>
              </a:rPr>
              <a:t>84％</a:t>
            </a:r>
          </a:p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014172"/>
                </a:solidFill>
                <a:latin typeface="Yu Gothic UI"/>
              </a:rPr>
              <a:t>増える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77030" y="1014619"/>
            <a:ext cx="201168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E7CD7A"/>
                </a:solidFill>
                <a:latin typeface="Yu Gothic UI"/>
              </a:rPr>
              <a:t>加給年金額・振替加算額</a:t>
            </a:r>
          </a:p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E7CD7A"/>
                </a:solidFill>
                <a:latin typeface="Yu Gothic UI"/>
              </a:rPr>
              <a:t>ここは増えない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53328" y="5376672"/>
            <a:ext cx="47640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縦＝年金額（65歳を100とした割合）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黄色い破線＝繰上げでも繰下げでも増減しない部分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8EC5E8"/>
                </a:solidFill>
                <a:latin typeface="Yu Gothic UI"/>
              </a:rPr>
              <a:t>資産形成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38528"/>
            <a:ext cx="5257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FFFFFF"/>
                </a:solidFill>
                <a:latin typeface="Yu Gothic UI"/>
              </a:rPr>
              <a:t>退職所得控除の折れ点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99232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勤続20年を境に</a:t>
            </a:r>
          </a:p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1年あたり40万円→70万円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EC5E8"/>
                </a:solidFill>
                <a:latin typeface="Yu Gothic UI"/>
              </a:rPr>
              <a:t>家計の制度ログ　kakei.nexeed-lab.com</a:t>
            </a:r>
          </a:p>
        </p:txBody>
      </p:sp>
      <p:pic>
        <p:nvPicPr>
          <p:cNvPr id="9" name="Picture 8" descr="taishoku-shotoku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760264" y="3309030"/>
            <a:ext cx="1554480" cy="223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Yu Gothic UI"/>
              </a:rPr>
              <a:t>1年あたり40万円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4197" y="1740651"/>
            <a:ext cx="1554480" cy="223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Yu Gothic UI"/>
              </a:rPr>
              <a:t>1年あたり70万円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24211" y="4436303"/>
            <a:ext cx="1188720" cy="223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E7CD7A"/>
                </a:solidFill>
                <a:latin typeface="Yu Gothic UI"/>
              </a:rPr>
              <a:t>勤続20年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53328" y="5376672"/>
            <a:ext cx="47640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横＝勤続年数　縦＝退職所得控除額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目盛りの数字は置いていない（額は本文の表）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8EC5E8"/>
                </a:solidFill>
                <a:latin typeface="Yu Gothic UI"/>
              </a:rPr>
              <a:t>相続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38528"/>
            <a:ext cx="5257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FFFFFF"/>
                </a:solidFill>
                <a:latin typeface="Yu Gothic UI"/>
              </a:rPr>
              <a:t>小規模宅地等の特例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99232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誰が相続するかで</a:t>
            </a:r>
          </a:p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満たす要件の数が変わる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EC5E8"/>
                </a:solidFill>
                <a:latin typeface="Yu Gothic UI"/>
              </a:rPr>
              <a:t>家計の制度ログ　kakei.nexeed-lab.com</a:t>
            </a:r>
          </a:p>
        </p:txBody>
      </p:sp>
      <p:pic>
        <p:nvPicPr>
          <p:cNvPr id="9" name="Picture 8" descr="shoukibo-takuchi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37544" y="1489128"/>
            <a:ext cx="1024128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014172"/>
                </a:solidFill>
                <a:latin typeface="Yu Gothic UI"/>
              </a:rPr>
              <a:t>配偶者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7544" y="2713568"/>
            <a:ext cx="1024128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014172"/>
                </a:solidFill>
                <a:latin typeface="Yu Gothic UI"/>
              </a:rPr>
              <a:t>同居していた</a:t>
            </a:r>
          </a:p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014172"/>
                </a:solidFill>
                <a:latin typeface="Yu Gothic UI"/>
              </a:rPr>
              <a:t>親族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7544" y="3919719"/>
            <a:ext cx="1024128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014172"/>
                </a:solidFill>
                <a:latin typeface="Yu Gothic UI"/>
              </a:rPr>
              <a:t>それ以外の</a:t>
            </a:r>
          </a:p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014172"/>
                </a:solidFill>
                <a:latin typeface="Yu Gothic UI"/>
              </a:rPr>
              <a:t>親族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94029" y="1479984"/>
            <a:ext cx="1463040" cy="264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Yu Gothic UI"/>
              </a:rPr>
              <a:t>要件なし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8632" y="2713568"/>
            <a:ext cx="173736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Yu Gothic UI"/>
              </a:rPr>
              <a:t>申告期限まで</a:t>
            </a:r>
          </a:p>
          <a:p>
            <a:pPr algn="l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Yu Gothic UI"/>
              </a:rPr>
              <a:t>居住し、所有する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40392" y="3423857"/>
            <a:ext cx="219456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E7CD7A"/>
                </a:solidFill>
                <a:latin typeface="Yu Gothic UI"/>
              </a:rPr>
              <a:t>(1)から(6)をすべて満たす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53328" y="5376672"/>
            <a:ext cx="47640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四角の数＝満たすべき要件の数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面積や金額は表していない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103120"/>
            <a:ext cx="52578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Yu Gothic UI"/>
              </a:rPr>
              <a:t>家計の制度ログ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3246120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0">
                <a:solidFill>
                  <a:srgbClr val="FFFFFF"/>
                </a:solidFill>
                <a:latin typeface="Yu Gothic UI"/>
              </a:rPr>
              <a:t>お金の制度を、公式の原文で確かめて書く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8EC5E8"/>
                </a:solidFill>
                <a:latin typeface="Yu Gothic UI"/>
              </a:rPr>
              <a:t>kakei.nexeed-lab.com</a:t>
            </a:r>
          </a:p>
        </p:txBody>
      </p:sp>
      <p:pic>
        <p:nvPicPr>
          <p:cNvPr id="8" name="Picture 7" descr="brand-mark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