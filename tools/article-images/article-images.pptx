
<file path=[Content_Types].xml><?xml version="1.0" encoding="utf-8"?>
<Types xmlns="http://schemas.openxmlformats.org/package/2006/content-types">
  <Default Extension="svg" ContentType="image/svg+xml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1430000" cy="600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uyou-no-kabe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furusato-nozei-jogen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koukou-mushouka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daigaku-mushouka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kougaku-ryouyouhi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jidouteate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ryouhi-koujo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jutaku-loan-koujo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brand-mark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4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566928"/>
            <a:ext cx="23774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781812"/>
            <a:ext cx="19202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996695"/>
            <a:ext cx="14630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8EC5E8"/>
                </a:solidFill>
                <a:latin typeface="Yu Gothic UI"/>
              </a:rPr>
              <a:t>税と社会保険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>
                <a:solidFill>
                  <a:srgbClr val="FFFFFF"/>
                </a:solidFill>
                <a:latin typeface="Yu Gothic UI"/>
              </a:rPr>
              <a:t>扶養の壁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99232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103・106・130・150・160 は</a:t>
            </a:r>
          </a:p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何の壁なのか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EC5E8"/>
                </a:solidFill>
                <a:latin typeface="Yu Gothic UI"/>
              </a:rPr>
              <a:t>家計の制度ログ　kakei.nexeed-lab.com</a:t>
            </a:r>
          </a:p>
        </p:txBody>
      </p:sp>
      <p:pic>
        <p:nvPicPr>
          <p:cNvPr id="9" name="Picture 8" descr="fuyou-no-kab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3328" y="566928"/>
            <a:ext cx="4764024" cy="4288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4992624"/>
            <a:ext cx="155448" cy="1554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税の壁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992624"/>
            <a:ext cx="155448" cy="155448"/>
          </a:xfrm>
          <a:prstGeom prst="roundRect">
            <a:avLst/>
          </a:prstGeom>
          <a:solidFill>
            <a:srgbClr val="8E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社会保険の壁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5376672"/>
            <a:ext cx="4764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EC5E8"/>
                </a:solidFill>
                <a:latin typeface="Yu Gothic UI"/>
              </a:rPr>
              <a:t>単位：万円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4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566928"/>
            <a:ext cx="23774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781812"/>
            <a:ext cx="19202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996695"/>
            <a:ext cx="14630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8EC5E8"/>
                </a:solidFill>
                <a:latin typeface="Yu Gothic UI"/>
              </a:rPr>
              <a:t>税と社会保険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FFFFF"/>
                </a:solidFill>
                <a:latin typeface="Yu Gothic UI"/>
              </a:rPr>
              <a:t>ふるさと納税の上限額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99232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決めているのは</a:t>
            </a:r>
          </a:p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総務省の3本の計算式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EC5E8"/>
                </a:solidFill>
                <a:latin typeface="Yu Gothic UI"/>
              </a:rPr>
              <a:t>家計の制度ログ　kakei.nexeed-lab.com</a:t>
            </a:r>
          </a:p>
        </p:txBody>
      </p:sp>
      <p:pic>
        <p:nvPicPr>
          <p:cNvPr id="9" name="Picture 8" descr="furusato-nozei-jogen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3328" y="566928"/>
            <a:ext cx="4764024" cy="4288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4992624"/>
            <a:ext cx="155448" cy="1554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(1) 所得税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992624"/>
            <a:ext cx="155448" cy="155448"/>
          </a:xfrm>
          <a:prstGeom prst="roundRect">
            <a:avLst/>
          </a:prstGeom>
          <a:solidFill>
            <a:srgbClr val="8E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(2)(3) 住民税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5376672"/>
            <a:ext cx="4764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EC5E8"/>
                </a:solidFill>
                <a:latin typeface="Yu Gothic UI"/>
              </a:rPr>
              <a:t>破線＝住民税所得割額の20％の天井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4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566928"/>
            <a:ext cx="23774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781812"/>
            <a:ext cx="19202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996695"/>
            <a:ext cx="14630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8EC5E8"/>
                </a:solidFill>
                <a:latin typeface="Yu Gothic UI"/>
              </a:rPr>
              <a:t>教育費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FFFFF"/>
                </a:solidFill>
                <a:latin typeface="Yu Gothic UI"/>
              </a:rPr>
              <a:t>「高校無償化」の中身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99232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制度名は高等学校等就学支援金</a:t>
            </a:r>
          </a:p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授業料以外は別の給付金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EC5E8"/>
                </a:solidFill>
                <a:latin typeface="Yu Gothic UI"/>
              </a:rPr>
              <a:t>家計の制度ログ　kakei.nexeed-lab.com</a:t>
            </a:r>
          </a:p>
        </p:txBody>
      </p:sp>
      <p:pic>
        <p:nvPicPr>
          <p:cNvPr id="9" name="Picture 8" descr="koukou-mushouka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3328" y="566928"/>
            <a:ext cx="4764024" cy="4288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4992624"/>
            <a:ext cx="155448" cy="1554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授業料＝就学支援金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992624"/>
            <a:ext cx="155448" cy="155448"/>
          </a:xfrm>
          <a:prstGeom prst="roundRect">
            <a:avLst/>
          </a:prstGeom>
          <a:solidFill>
            <a:srgbClr val="8E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授業料以外＝奨学給付金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5376672"/>
            <a:ext cx="4764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EC5E8"/>
                </a:solidFill>
                <a:latin typeface="Yu Gothic UI"/>
              </a:rPr>
              <a:t>数字は私立高校の年額（円）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4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566928"/>
            <a:ext cx="23774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781812"/>
            <a:ext cx="19202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996695"/>
            <a:ext cx="14630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8EC5E8"/>
                </a:solidFill>
                <a:latin typeface="Yu Gothic UI"/>
              </a:rPr>
              <a:t>教育費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FFFFF"/>
                </a:solidFill>
                <a:latin typeface="Yu Gothic UI"/>
              </a:rPr>
              <a:t>「大学無償化」の中身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99232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高等教育の修学支援新制度</a:t>
            </a:r>
          </a:p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無償化されたのは減免だけ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EC5E8"/>
                </a:solidFill>
                <a:latin typeface="Yu Gothic UI"/>
              </a:rPr>
              <a:t>家計の制度ログ　kakei.nexeed-lab.com</a:t>
            </a:r>
          </a:p>
        </p:txBody>
      </p:sp>
      <p:pic>
        <p:nvPicPr>
          <p:cNvPr id="9" name="Picture 8" descr="daigaku-mushouka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3328" y="566928"/>
            <a:ext cx="4764024" cy="4288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4992624"/>
            <a:ext cx="155448" cy="1554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授業料等減免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992624"/>
            <a:ext cx="155448" cy="155448"/>
          </a:xfrm>
          <a:prstGeom prst="roundRect">
            <a:avLst/>
          </a:prstGeom>
          <a:solidFill>
            <a:srgbClr val="8E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給付型奨学金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5376672"/>
            <a:ext cx="4764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EC5E8"/>
                </a:solidFill>
                <a:latin typeface="Yu Gothic UI"/>
              </a:rPr>
              <a:t>数字は私立大学の年額（給付型は自宅外）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4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566928"/>
            <a:ext cx="23774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781812"/>
            <a:ext cx="19202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996695"/>
            <a:ext cx="14630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8EC5E8"/>
                </a:solidFill>
                <a:latin typeface="Yu Gothic UI"/>
              </a:rPr>
              <a:t>税と社会保険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FFFFF"/>
                </a:solidFill>
                <a:latin typeface="Yu Gothic UI"/>
              </a:rPr>
              <a:t>高額療養費の年間上限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99232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2026年8月から</a:t>
            </a:r>
          </a:p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年単位の上限額が入った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EC5E8"/>
                </a:solidFill>
                <a:latin typeface="Yu Gothic UI"/>
              </a:rPr>
              <a:t>家計の制度ログ　kakei.nexeed-lab.com</a:t>
            </a:r>
          </a:p>
        </p:txBody>
      </p:sp>
      <p:pic>
        <p:nvPicPr>
          <p:cNvPr id="9" name="Picture 8" descr="kougaku-ryouyouhi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3328" y="566928"/>
            <a:ext cx="4764024" cy="4288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4992624"/>
            <a:ext cx="155448" cy="1554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実際に払う自己負担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992624"/>
            <a:ext cx="155448" cy="155448"/>
          </a:xfrm>
          <a:prstGeom prst="roundRect">
            <a:avLst/>
          </a:prstGeom>
          <a:solidFill>
            <a:srgbClr val="8E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払わずに済む分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5376672"/>
            <a:ext cx="4764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EC5E8"/>
                </a:solidFill>
                <a:latin typeface="Yu Gothic UI"/>
              </a:rPr>
              <a:t>横＝8月から翌年7月の12か月　縦＝自己負担の積み上がり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8EC5E8"/>
                </a:solidFill>
                <a:latin typeface="Yu Gothic UI"/>
              </a:rPr>
              <a:t>破線＝年間上限。ここから先は払わなくてよい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4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566928"/>
            <a:ext cx="23774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781812"/>
            <a:ext cx="19202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996695"/>
            <a:ext cx="14630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8EC5E8"/>
                </a:solidFill>
                <a:latin typeface="Yu Gothic UI"/>
              </a:rPr>
              <a:t>教育費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FFFFF"/>
                </a:solidFill>
                <a:latin typeface="Yu Gothic UI"/>
              </a:rPr>
              <a:t>児童手当の「第3子」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99232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3人いても</a:t>
            </a:r>
          </a:p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第3子とは限らない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EC5E8"/>
                </a:solidFill>
                <a:latin typeface="Yu Gothic UI"/>
              </a:rPr>
              <a:t>家計の制度ログ　kakei.nexeed-lab.com</a:t>
            </a:r>
          </a:p>
        </p:txBody>
      </p:sp>
      <p:pic>
        <p:nvPicPr>
          <p:cNvPr id="9" name="Picture 8" descr="jidouteat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3328" y="566928"/>
            <a:ext cx="4764024" cy="4288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4992624"/>
            <a:ext cx="155448" cy="1554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加算の対象になる子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992624"/>
            <a:ext cx="155448" cy="155448"/>
          </a:xfrm>
          <a:prstGeom prst="roundRect">
            <a:avLst/>
          </a:prstGeom>
          <a:solidFill>
            <a:srgbClr val="8E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数に入る上の子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5376672"/>
            <a:ext cx="4764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EC5E8"/>
                </a:solidFill>
                <a:latin typeface="Yu Gothic UI"/>
              </a:rPr>
              <a:t>上の子から順に数える（左の点＝数える順番）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8EC5E8"/>
                </a:solidFill>
                <a:latin typeface="Yu Gothic UI"/>
              </a:rPr>
              <a:t>上の子を数に入れるには経済的負担と確認書が要る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4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566928"/>
            <a:ext cx="23774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781812"/>
            <a:ext cx="19202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996695"/>
            <a:ext cx="14630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8EC5E8"/>
                </a:solidFill>
                <a:latin typeface="Yu Gothic UI"/>
              </a:rPr>
              <a:t>税と社会保険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FFFFF"/>
                </a:solidFill>
                <a:latin typeface="Yu Gothic UI"/>
              </a:rPr>
              <a:t>医療費控除の下限額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99232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10万円とは限らない</a:t>
            </a:r>
          </a:p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引く順番も決まっている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EC5E8"/>
                </a:solidFill>
                <a:latin typeface="Yu Gothic UI"/>
              </a:rPr>
              <a:t>家計の制度ログ　kakei.nexeed-lab.com</a:t>
            </a:r>
          </a:p>
        </p:txBody>
      </p:sp>
      <p:pic>
        <p:nvPicPr>
          <p:cNvPr id="9" name="Picture 8" descr="iryouhi-koujo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3328" y="566928"/>
            <a:ext cx="4764024" cy="4288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4992624"/>
            <a:ext cx="155448" cy="1554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控除の対象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992624"/>
            <a:ext cx="155448" cy="155448"/>
          </a:xfrm>
          <a:prstGeom prst="roundRect">
            <a:avLst/>
          </a:prstGeom>
          <a:solidFill>
            <a:srgbClr val="8E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差し引かれる分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5376672"/>
            <a:ext cx="4764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EC5E8"/>
                </a:solidFill>
                <a:latin typeface="Yu Gothic UI"/>
              </a:rPr>
              <a:t>縦＝1年間に支払った医療費の積み上がり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8EC5E8"/>
                </a:solidFill>
                <a:latin typeface="Yu Gothic UI"/>
              </a:rPr>
              <a:t>破線まで＝保険金などと下限額。ここまでは引かれる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4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566928"/>
            <a:ext cx="23774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781812"/>
            <a:ext cx="19202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996695"/>
            <a:ext cx="14630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8EC5E8"/>
                </a:solidFill>
                <a:latin typeface="Yu Gothic UI"/>
              </a:rPr>
              <a:t>税と社会保険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FFFFF"/>
                </a:solidFill>
                <a:latin typeface="Yu Gothic UI"/>
              </a:rPr>
              <a:t>住宅ローン減税の区分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99232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省エネ基準を満たさない</a:t>
            </a:r>
          </a:p>
          <a:p>
            <a:pPr algn="l">
              <a:lnSpc>
                <a:spcPct val="135000"/>
              </a:lnSpc>
            </a:pPr>
            <a:r>
              <a:rPr sz="2600" b="0">
                <a:solidFill>
                  <a:srgbClr val="FFFFFF"/>
                </a:solidFill>
                <a:latin typeface="Yu Gothic UI"/>
              </a:rPr>
              <a:t>新築は支援対象外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EC5E8"/>
                </a:solidFill>
                <a:latin typeface="Yu Gothic UI"/>
              </a:rPr>
              <a:t>家計の制度ログ　kakei.nexeed-lab.com</a:t>
            </a:r>
          </a:p>
        </p:txBody>
      </p:sp>
      <p:pic>
        <p:nvPicPr>
          <p:cNvPr id="9" name="Picture 8" descr="jutaku-loan-koujo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3328" y="566928"/>
            <a:ext cx="4764024" cy="4288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4992624"/>
            <a:ext cx="155448" cy="1554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新築住宅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992624"/>
            <a:ext cx="155448" cy="155448"/>
          </a:xfrm>
          <a:prstGeom prst="roundRect">
            <a:avLst/>
          </a:prstGeom>
          <a:solidFill>
            <a:srgbClr val="8E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Yu Gothic UI"/>
              </a:rPr>
              <a:t>既存住宅（中古）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5376672"/>
            <a:ext cx="4764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EC5E8"/>
                </a:solidFill>
                <a:latin typeface="Yu Gothic UI"/>
              </a:rPr>
              <a:t>横の長さ＝借入限度額　上から省エネ性能の高い区分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8EC5E8"/>
                </a:solidFill>
                <a:latin typeface="Yu Gothic UI"/>
              </a:rPr>
              <a:t>黄の破線＝支援対象外（新築のその他住宅）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4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566928"/>
            <a:ext cx="23774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781812"/>
            <a:ext cx="19202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996695"/>
            <a:ext cx="146304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103120"/>
            <a:ext cx="5257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Yu Gothic UI"/>
              </a:rPr>
              <a:t>家計の制度ログ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FFFFFF"/>
                </a:solidFill>
                <a:latin typeface="Yu Gothic UI"/>
              </a:rPr>
              <a:t>お金の制度を、公式の原文で確かめて書く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1389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8EC5E8"/>
                </a:solidFill>
                <a:latin typeface="Yu Gothic UI"/>
              </a:rPr>
              <a:t>kakei.nexeed-lab.com</a:t>
            </a:r>
          </a:p>
        </p:txBody>
      </p:sp>
      <p:pic>
        <p:nvPicPr>
          <p:cNvPr id="8" name="Picture 7" descr="brand-mark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3328" y="566928"/>
            <a:ext cx="4764024" cy="42885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