
<file path=[Content_Types].xml><?xml version="1.0" encoding="utf-8"?>
<Types xmlns="http://schemas.openxmlformats.org/package/2006/content-types">
  <Default Extension="svg" ContentType="image/svg+xml"/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1430000" cy="6000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fuyou-no-kabe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furusato-nozei-jogen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koukou-mushouka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daigaku-mushouka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kougaku-ryouyouhi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jidouteate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ryouhi-koujo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jutaku-loan-koujo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shogakukin-henkan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hoiku-mushouka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brand-mark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4600" b="1">
                <a:solidFill>
                  <a:srgbClr val="FFFFFF"/>
                </a:solidFill>
                <a:latin typeface="Yu Gothic UI"/>
              </a:rPr>
              <a:t>扶養の壁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103・106・130・150・160 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何の壁なのか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you-no-kab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290523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〜令和6年分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48047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社会保険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適用拡大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05572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健康保険の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被扶養者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3096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配偶者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特別控除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20620" y="4554363"/>
            <a:ext cx="859536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所得税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令和7年分〜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単位：万円　白＝税の壁　青＝社会保険の壁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ふるさと納税の上限額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決めているのは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総務省の3本の計算式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furusato-nozei-joge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73274" y="3717645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(1) 所得税から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3274" y="2936179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(2) 住民税の基本分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3274" y="2040351"/>
            <a:ext cx="173736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(3) 住民税の特例分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73274" y="1153281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住民税所得割額の20％</a:t>
            </a:r>
          </a:p>
          <a:p>
            <a:pPr algn="l">
              <a:lnSpc>
                <a:spcPct val="115000"/>
              </a:lnSpc>
            </a:pPr>
            <a:r>
              <a:rPr sz="1300" b="1">
                <a:solidFill>
                  <a:srgbClr val="E7CD7A"/>
                </a:solidFill>
                <a:latin typeface="Yu Gothic UI"/>
              </a:rPr>
              <a:t>＝ここが天井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破線の上にはみ出した分は控除されず、自己負担として残る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「高校無償化」の中身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制度名は高等学校等就学支援金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授業料以外は別の給付金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ko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429500" y="1105631"/>
            <a:ext cx="201168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高校でかかる費用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3790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Yu Gothic UI"/>
              </a:rPr>
              <a:t>授業料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82409" y="1411366"/>
            <a:ext cx="1554480" cy="30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8EC5E8"/>
                </a:solidFill>
                <a:latin typeface="Yu Gothic UI"/>
              </a:rPr>
              <a:t>授業料以外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33790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高等学校等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就学支援金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82409" y="4164015"/>
            <a:ext cx="15544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高校生等</a:t>
            </a:r>
          </a:p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奨学給付金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矢印の先＝それを受け止める制度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数字は私立高校の年額（円）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「大学無償化」の中身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無償化されたのは減免だけ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daiga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5180" y="1048451"/>
            <a:ext cx="256032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Yu Gothic UI"/>
              </a:rPr>
              <a:t>高等教育の修学支援新制度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1430" y="2201976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授業料等減免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34769" y="1868424"/>
            <a:ext cx="155448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014172"/>
                </a:solidFill>
                <a:latin typeface="Yu Gothic UI"/>
              </a:rPr>
              <a:t>給付型奨学金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1430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多子世帯は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所得制限なし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34769" y="4497182"/>
            <a:ext cx="155448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収入の基準が</a:t>
            </a:r>
          </a:p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残っている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数字は私立大学の年額（給付型は自宅外）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高額療養費の年間上限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2026年8月から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年単位の上限額が入った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kougaku-ryouyouhi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472562" y="1619869"/>
            <a:ext cx="173736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年間上限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20940" y="3831234"/>
            <a:ext cx="182880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実際に払う自己負担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6241" y="1057208"/>
            <a:ext cx="146304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払わずに済む分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59250" y="4573423"/>
            <a:ext cx="7315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8月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57964" y="4573423"/>
            <a:ext cx="82296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Yu Gothic UI"/>
              </a:rPr>
              <a:t>翌年7月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1段＝1か月ぶんの自己負担。破線から先は払わなくてよい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児童手当の「第3子」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3人いても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第3子とは限らない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idouteate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88782" y="137285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1人目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88782" y="2516469"/>
            <a:ext cx="1645920" cy="28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1">
                <a:solidFill>
                  <a:srgbClr val="8EC5E8"/>
                </a:solidFill>
                <a:latin typeface="Yu Gothic UI"/>
              </a:rPr>
              <a:t>2人目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3062" y="3669223"/>
            <a:ext cx="1737360" cy="264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014172"/>
                </a:solidFill>
                <a:latin typeface="Yu Gothic UI"/>
              </a:rPr>
              <a:t>3人目＝加算の対象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点線＝経済的負担と確認書があれば数に入る上の子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左の点＝数える順番（上の子から数える）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医療費控除の下限額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10万円とは限らない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引く順番も決まっている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iryouhi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026078" y="1886712"/>
            <a:ext cx="164592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控除の対象</a:t>
            </a:r>
          </a:p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になる分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83247" y="2838948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E7CD7A"/>
                </a:solidFill>
                <a:latin typeface="Yu Gothic UI"/>
              </a:rPr>
              <a:t>ここまでが引かれる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26078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8EC5E8"/>
                </a:solidFill>
                <a:latin typeface="Yu Gothic UI"/>
              </a:rPr>
              <a:t>適用下限額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6078" y="3925377"/>
            <a:ext cx="1645920" cy="20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保険金などで</a:t>
            </a:r>
          </a:p>
          <a:p>
            <a:pPr algn="l">
              <a:lnSpc>
                <a:spcPct val="115000"/>
              </a:lnSpc>
            </a:pPr>
            <a:r>
              <a:rPr sz="1000" b="1">
                <a:solidFill>
                  <a:srgbClr val="8EC5E8"/>
                </a:solidFill>
                <a:latin typeface="Yu Gothic UI"/>
              </a:rPr>
              <a:t>補てんされた分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縦＝1年間に支払った医療費の積み上がり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税と社会保険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住宅ローン減税の区分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省エネ基準を満たさない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jutaku-loan-koujo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68266" y="1352641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長期優良住宅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低炭素住宅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68266" y="2267529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ZEH水準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省エネ住宅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68266" y="3182416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省エネ基準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適合住宅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68266" y="4097304"/>
            <a:ext cx="164592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その他住宅</a:t>
            </a:r>
          </a:p>
          <a:p>
            <a:pPr algn="l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新築は支援対象外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新築住宅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既存住宅（中古）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横の長さ＝借入限度額（令和8年〜令和12年に入居した場合）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FFFFFF"/>
                </a:solidFill>
                <a:latin typeface="Yu Gothic UI"/>
              </a:rPr>
              <a:t>奨学金の返還が苦しいとき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減額返還も猶予も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返す総額は減らない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shogakukin-henkan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333175" y="1191016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元の返還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33175" y="2048723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減額返還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33175" y="2906430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Yu Gothic UI"/>
              </a:rPr>
              <a:t>返還期限猶予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33175" y="3764137"/>
            <a:ext cx="1554480" cy="243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7CD7A"/>
                </a:solidFill>
                <a:latin typeface="Yu Gothic UI"/>
              </a:rPr>
              <a:t>返還免除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4992624"/>
            <a:ext cx="155448" cy="15544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2823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返す分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412480" y="4992624"/>
            <a:ext cx="155448" cy="155448"/>
          </a:xfrm>
          <a:prstGeom prst="roundRect">
            <a:avLst/>
          </a:prstGeom>
          <a:solidFill>
            <a:srgbClr val="8EC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4956048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FFFFFF"/>
                </a:solidFill>
                <a:latin typeface="Yu Gothic UI"/>
              </a:rPr>
              <a:t>待つ期間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白の合計＝返す総額。減るのは免除だけ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481328"/>
            <a:ext cx="493776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8EC5E8"/>
                </a:solidFill>
                <a:latin typeface="Yu Gothic UI"/>
              </a:rPr>
              <a:t>教育費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1938528"/>
            <a:ext cx="5257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>
                <a:solidFill>
                  <a:srgbClr val="FFFFFF"/>
                </a:solidFill>
                <a:latin typeface="Yu Gothic UI"/>
              </a:rPr>
              <a:t>「保育の無償化」の中身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2999232"/>
            <a:ext cx="512064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無料になるのは利用料だけ</a:t>
            </a:r>
          </a:p>
          <a:p>
            <a:pPr algn="l">
              <a:lnSpc>
                <a:spcPct val="135000"/>
              </a:lnSpc>
            </a:pPr>
            <a:r>
              <a:rPr sz="2600" b="0">
                <a:solidFill>
                  <a:srgbClr val="FFFFFF"/>
                </a:solidFill>
                <a:latin typeface="Yu Gothic UI"/>
              </a:rPr>
              <a:t>0〜2歳児クラスは原則対象外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700" b="0">
                <a:solidFill>
                  <a:srgbClr val="8EC5E8"/>
                </a:solidFill>
                <a:latin typeface="Yu Gothic UI"/>
              </a:rPr>
              <a:t>家計の制度ログ　kakei.nexeed-lab.com</a:t>
            </a:r>
          </a:p>
        </p:txBody>
      </p:sp>
      <p:pic>
        <p:nvPicPr>
          <p:cNvPr id="9" name="Picture 8" descr="hoiku-mushouka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158134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E7CD7A"/>
                </a:solidFill>
                <a:latin typeface="Yu Gothic UI"/>
              </a:rPr>
              <a:t>利用料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4292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食材料費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990451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通園送迎費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06609" y="940340"/>
            <a:ext cx="8686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行事費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5499" y="1843189"/>
            <a:ext cx="10972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3〜5歳児</a:t>
            </a:r>
          </a:p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クラス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5499" y="3513461"/>
            <a:ext cx="1097280" cy="223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0〜2歳児</a:t>
            </a:r>
          </a:p>
          <a:p>
            <a:pPr algn="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Yu Gothic UI"/>
              </a:rPr>
              <a:t>クラス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53328" y="5376672"/>
            <a:ext cx="47640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白＝払う分　黄色い破線＝無償化で払わなくなる分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8EC5E8"/>
                </a:solidFill>
                <a:latin typeface="Yu Gothic UI"/>
              </a:rPr>
              <a:t>0〜2歳児クラスは住民税非課税世帯だけ利用料が無償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1417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713232" y="566928"/>
            <a:ext cx="23774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13232" y="781812"/>
            <a:ext cx="19202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13232" y="996695"/>
            <a:ext cx="1463040" cy="685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103120"/>
            <a:ext cx="52578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Yu Gothic UI"/>
              </a:rPr>
              <a:t>家計の制度ログ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3246120"/>
            <a:ext cx="566928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0">
                <a:solidFill>
                  <a:srgbClr val="FFFFFF"/>
                </a:solidFill>
                <a:latin typeface="Yu Gothic UI"/>
              </a:rPr>
              <a:t>お金の制度を、公式の原文で確かめて書く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5138928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900" b="0">
                <a:solidFill>
                  <a:srgbClr val="8EC5E8"/>
                </a:solidFill>
                <a:latin typeface="Yu Gothic UI"/>
              </a:rPr>
              <a:t>kakei.nexeed-lab.com</a:t>
            </a:r>
          </a:p>
        </p:txBody>
      </p:sp>
      <p:pic>
        <p:nvPicPr>
          <p:cNvPr id="8" name="Picture 7" descr="brand-mark.p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053328" y="566928"/>
            <a:ext cx="4764024" cy="428853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